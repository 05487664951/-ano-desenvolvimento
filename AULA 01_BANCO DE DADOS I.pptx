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FwxCuv3aO7OK/yztYlv/cQHfI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1cbfe2e4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91cbfe2e4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g391cbfe2e4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1cbfe2e4a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g391cbfe2e4a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1cbfe2e4a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91cbfe2e4a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dc25e7c43d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1dc25e7c43d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dc25e7c43d_2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1dc25e7c43d_2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1cbfe2e4a_0_3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91cbfe2e4a_0_3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1cbfe2e4a_0_3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91cbfe2e4a_0_3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1cbfe2e4a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91cbfe2e4a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1cbfe2e4a_0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91cbfe2e4a_0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db2eae7c6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1db2eae7c6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Relationship Id="rId4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bg>
      <p:bgPr>
        <a:gradFill>
          <a:gsLst>
            <a:gs pos="0">
              <a:srgbClr val="0B579C">
                <a:alpha val="87843"/>
              </a:srgbClr>
            </a:gs>
            <a:gs pos="100000">
              <a:srgbClr val="008959"/>
            </a:gs>
          </a:gsLst>
          <a:lin ang="5400012" scaled="0"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ae57fe347c_0_7"/>
          <p:cNvSpPr txBox="1"/>
          <p:nvPr/>
        </p:nvSpPr>
        <p:spPr>
          <a:xfrm>
            <a:off x="134850" y="125225"/>
            <a:ext cx="11943600" cy="663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overno do Paraná prorroga prazo do edital para projeto da Ponte de  Guaratuba - RÁDIO 104 MAIS FM" id="17" name="Google Shape;17;g3ae57fe347c_0_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38155" y="187645"/>
            <a:ext cx="1483894" cy="786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g3ae57fe347c_0_7" title="WhatsApp Image 2025-05-08 at 13.53.41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7625" y="6196401"/>
            <a:ext cx="1181550" cy="52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g3ae57fe347c_0_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1843" y="1"/>
            <a:ext cx="12253846" cy="684627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ae57fe347c_0_11"/>
          <p:cNvSpPr txBox="1"/>
          <p:nvPr>
            <p:ph idx="12" type="sldNum"/>
          </p:nvPr>
        </p:nvSpPr>
        <p:spPr>
          <a:xfrm>
            <a:off x="1" y="6166400"/>
            <a:ext cx="6915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bg>
      <p:bgPr>
        <a:gradFill>
          <a:gsLst>
            <a:gs pos="0">
              <a:srgbClr val="0B579C">
                <a:alpha val="87843"/>
              </a:srgbClr>
            </a:gs>
            <a:gs pos="100000">
              <a:srgbClr val="008959"/>
            </a:gs>
          </a:gsLst>
          <a:lin ang="5400012" scaled="0"/>
        </a:gra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e57fe347c_0_14"/>
          <p:cNvSpPr txBox="1"/>
          <p:nvPr/>
        </p:nvSpPr>
        <p:spPr>
          <a:xfrm>
            <a:off x="134850" y="125225"/>
            <a:ext cx="11934000" cy="660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overno do Paraná prorroga prazo do edital para projeto da Ponte de  Guaratuba - RÁDIO 104 MAIS FM" id="24" name="Google Shape;24;g3ae57fe347c_0_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30927" y="252664"/>
            <a:ext cx="953733" cy="50532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ae57fe347c_0_14"/>
          <p:cNvSpPr txBox="1"/>
          <p:nvPr/>
        </p:nvSpPr>
        <p:spPr>
          <a:xfrm>
            <a:off x="1106905" y="6368352"/>
            <a:ext cx="412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18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Ícone&#10;&#10;Descrição gerada automaticamente" id="26" name="Google Shape;26;g3ae57fe347c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89" y="5798624"/>
            <a:ext cx="1034716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g3ae57fe347c_0_14" title="WhatsApp Image 2025-05-08 at 13.53.41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77625" y="6196401"/>
            <a:ext cx="1181550" cy="52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">
  <p:cSld name="OBJECT_1">
    <p:bg>
      <p:bgPr>
        <a:gradFill>
          <a:gsLst>
            <a:gs pos="0">
              <a:srgbClr val="0B579C">
                <a:alpha val="87843"/>
              </a:srgbClr>
            </a:gs>
            <a:gs pos="100000">
              <a:srgbClr val="008959"/>
            </a:gs>
          </a:gsLst>
          <a:lin ang="5400012" scaled="0"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ae57fe347c_0_27"/>
          <p:cNvSpPr txBox="1"/>
          <p:nvPr/>
        </p:nvSpPr>
        <p:spPr>
          <a:xfrm>
            <a:off x="134850" y="125225"/>
            <a:ext cx="11934000" cy="660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Ícone&#10;&#10;Descrição gerada automaticamente" id="30" name="Google Shape;30;g3ae57fe347c_0_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189" y="5889368"/>
            <a:ext cx="943970" cy="94397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g3ae57fe347c_0_27"/>
          <p:cNvSpPr txBox="1"/>
          <p:nvPr/>
        </p:nvSpPr>
        <p:spPr>
          <a:xfrm>
            <a:off x="1106905" y="6368352"/>
            <a:ext cx="412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18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overno do Paraná prorroga prazo do edital para projeto da Ponte de  Guaratuba - RÁDIO 104 MAIS FM" id="32" name="Google Shape;32;g3ae57fe347c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30927" y="252664"/>
            <a:ext cx="953733" cy="505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Descrição gerada automaticamente" id="33" name="Google Shape;33;g3ae57fe347c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8550" y="177700"/>
            <a:ext cx="6190650" cy="61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g3ae57fe347c_0_27"/>
          <p:cNvSpPr txBox="1"/>
          <p:nvPr/>
        </p:nvSpPr>
        <p:spPr>
          <a:xfrm>
            <a:off x="1181250" y="4125950"/>
            <a:ext cx="9752400" cy="1935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RCO+Aulas é um projeto da Secretaria de Estado da Educação do Paraná e está em constante revisão.  Todos os </a:t>
            </a:r>
            <a:r>
              <a:rPr b="0" i="1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slides</a:t>
            </a:r>
            <a:r>
              <a:rPr b="0" i="0" lang="pt-BR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são de uso exclusivo dos professores da Rede Pública Estadual de Ensino, com a finalidade específica de aplicação em sala de aula, sendo totalmente vedada a publicização, reutilização, reprodução total ou parcial para quaisquer outros fins.</a:t>
            </a:r>
            <a:endParaRPr b="0" i="0" sz="2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g3ae57fe347c_0_27" title="WhatsApp Image 2025-05-08 at 13.53.41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77625" y="6196401"/>
            <a:ext cx="1181550" cy="52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2">
  <p:cSld name="OBJECT_2">
    <p:bg>
      <p:bgPr>
        <a:gradFill>
          <a:gsLst>
            <a:gs pos="0">
              <a:srgbClr val="0B579C">
                <a:alpha val="87843"/>
              </a:srgbClr>
            </a:gs>
            <a:gs pos="100000">
              <a:srgbClr val="008959"/>
            </a:gs>
          </a:gsLst>
          <a:lin ang="5400012" scaled="0"/>
        </a:gra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e57fe347c_0_20"/>
          <p:cNvSpPr txBox="1"/>
          <p:nvPr/>
        </p:nvSpPr>
        <p:spPr>
          <a:xfrm>
            <a:off x="134850" y="125225"/>
            <a:ext cx="11934000" cy="660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ae57fe347c_0_20"/>
          <p:cNvSpPr txBox="1"/>
          <p:nvPr/>
        </p:nvSpPr>
        <p:spPr>
          <a:xfrm>
            <a:off x="1106905" y="6368352"/>
            <a:ext cx="412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18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Ícone&#10;&#10;Descrição gerada automaticamente" id="39" name="Google Shape;39;g3ae57fe347c_0_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189" y="5798624"/>
            <a:ext cx="1034716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g3ae57fe347c_0_20" title="WhatsApp Image 2025-05-08 at 13.53.41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7625" y="6196401"/>
            <a:ext cx="1181550" cy="52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2 1">
  <p:cSld name="OBJECT_2_1">
    <p:bg>
      <p:bgPr>
        <a:gradFill>
          <a:gsLst>
            <a:gs pos="0">
              <a:srgbClr val="0B579C">
                <a:alpha val="87843"/>
              </a:srgbClr>
            </a:gs>
            <a:gs pos="100000">
              <a:srgbClr val="008959"/>
            </a:gs>
          </a:gsLst>
          <a:lin ang="5400012" scaled="0"/>
        </a:gra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e57fe347c_0_25"/>
          <p:cNvSpPr txBox="1"/>
          <p:nvPr/>
        </p:nvSpPr>
        <p:spPr>
          <a:xfrm>
            <a:off x="134850" y="125225"/>
            <a:ext cx="11934000" cy="660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 1">
  <p:cSld name="OBJECT_1_1">
    <p:bg>
      <p:bgPr>
        <a:gradFill>
          <a:gsLst>
            <a:gs pos="0">
              <a:srgbClr val="0B579C">
                <a:alpha val="87843"/>
              </a:srgbClr>
            </a:gs>
            <a:gs pos="100000">
              <a:srgbClr val="008959"/>
            </a:gs>
          </a:gsLst>
          <a:lin ang="5400012" scaled="0"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ae57fe347c_0_35"/>
          <p:cNvSpPr txBox="1"/>
          <p:nvPr/>
        </p:nvSpPr>
        <p:spPr>
          <a:xfrm>
            <a:off x="134850" y="125225"/>
            <a:ext cx="11934000" cy="660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g3ae57fe347c_0_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5480" y="382579"/>
            <a:ext cx="10319622" cy="609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ae57fe347c_0_3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ae57fe347c_0_3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9" name="Google Shape;49;g3ae57fe347c_0_3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ae57fe347c_0_3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ae57fe347c_0_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e57fe347c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ae57fe347c_0_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ae57fe347c_0_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ae57fe347c_0_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ae57fe347c_0_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hyperlink" Target="https://docs.google.com/document/d/1wIO4jNj5GlA-817VmUTusoYjGIDKTb0C/edit?usp=sharing&amp;ouid=100506977849230096370&amp;rtpof=true&amp;sd=tru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hyperlink" Target="https://play.google.com/store/apps/details?id=br.com.alura.mobi&amp;hl=pt_BR&amp;pli=1" TargetMode="External"/><Relationship Id="rId5" Type="http://schemas.openxmlformats.org/officeDocument/2006/relationships/hyperlink" Target="https://apps.apple.com/br/app/alura-cursos-online/id1225776635" TargetMode="External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38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hyperlink" Target="https://drive.google.com/file/d/1s97AhPC3VcI6cryG3qILEKlOLBAruhNZ/view?usp=drive_link" TargetMode="External"/><Relationship Id="rId6" Type="http://schemas.openxmlformats.org/officeDocument/2006/relationships/image" Target="../media/image3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PwkLeMwHAfPIhgxCjKV6s1nerDG1d_PX/edit?usp=drive_link&amp;ouid=112660820765629457253&amp;rtpof=true&amp;sd=true" TargetMode="External"/><Relationship Id="rId4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Relationship Id="rId4" Type="http://schemas.openxmlformats.org/officeDocument/2006/relationships/image" Target="../media/image32.png"/><Relationship Id="rId5" Type="http://schemas.openxmlformats.org/officeDocument/2006/relationships/hyperlink" Target="https://kleber.dev.br/escola.html" TargetMode="External"/><Relationship Id="rId6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00" scaled="0"/>
        </a:gra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/>
          <p:nvPr/>
        </p:nvSpPr>
        <p:spPr>
          <a:xfrm>
            <a:off x="146384" y="134785"/>
            <a:ext cx="11899232" cy="66173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 txBox="1"/>
          <p:nvPr>
            <p:ph idx="4294967295" type="ctrTitle"/>
          </p:nvPr>
        </p:nvSpPr>
        <p:spPr>
          <a:xfrm>
            <a:off x="4819614" y="1399086"/>
            <a:ext cx="6325638" cy="15673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pt-BR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 Técnico Profissional</a:t>
            </a:r>
            <a:br>
              <a:rPr b="0" i="0" lang="pt-BR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45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 txBox="1"/>
          <p:nvPr>
            <p:ph idx="4294967295" type="subTitle"/>
          </p:nvPr>
        </p:nvSpPr>
        <p:spPr>
          <a:xfrm>
            <a:off x="5000591" y="3314616"/>
            <a:ext cx="6144661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008959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008959"/>
                </a:solidFill>
                <a:latin typeface="Calibri"/>
                <a:ea typeface="Calibri"/>
                <a:cs typeface="Calibri"/>
                <a:sym typeface="Calibri"/>
              </a:rPr>
              <a:t>BANCO DE DADOS 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1ª Série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um Banco de Dados?</a:t>
            </a:r>
            <a:endParaRPr b="1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Aula 01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Ícone&#10;&#10;Descrição gerada automaticamente" id="59" name="Google Shape;5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751" y="1050922"/>
            <a:ext cx="4785094" cy="47850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verno do Paraná prorroga prazo do edital para projeto da Ponte de  Guaratuba - RÁDIO 104 MAIS FM"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8733" y="134775"/>
            <a:ext cx="1532417" cy="81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" title="Logo horizont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7081" y="6275880"/>
            <a:ext cx="1068535" cy="476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91cbfe2e4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6884"/>
            <a:ext cx="3449374" cy="130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91cbfe2e4a_0_0"/>
          <p:cNvSpPr txBox="1"/>
          <p:nvPr/>
        </p:nvSpPr>
        <p:spPr>
          <a:xfrm>
            <a:off x="278200" y="1597267"/>
            <a:ext cx="96561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COMPETÊNCIA(S) A SER(EM) DESENVOLVIDA(S) NESTA AULA: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91cbfe2e4a_0_0"/>
          <p:cNvSpPr txBox="1"/>
          <p:nvPr/>
        </p:nvSpPr>
        <p:spPr>
          <a:xfrm>
            <a:off x="3601775" y="511876"/>
            <a:ext cx="83337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De acordo com o </a:t>
            </a:r>
            <a:r>
              <a:rPr b="1" i="0" lang="pt-BR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Plano de Curso de Desenvolvimento de Sistemas</a:t>
            </a:r>
            <a:r>
              <a:rPr b="1" i="0" lang="pt-BR" sz="2800" u="none" cap="none" strike="noStrike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i="0" sz="2800" u="none" cap="none" strike="noStrike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91cbfe2e4a_0_0"/>
          <p:cNvSpPr txBox="1"/>
          <p:nvPr/>
        </p:nvSpPr>
        <p:spPr>
          <a:xfrm>
            <a:off x="278200" y="3773409"/>
            <a:ext cx="96561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HABILIDADE(S) A SER(EM) DESENVOLVIDA(S) NESTA AULA: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91cbfe2e4a_0_0"/>
          <p:cNvSpPr/>
          <p:nvPr/>
        </p:nvSpPr>
        <p:spPr>
          <a:xfrm>
            <a:off x="155100" y="2175444"/>
            <a:ext cx="11882100" cy="1395600"/>
          </a:xfrm>
          <a:prstGeom prst="rect">
            <a:avLst/>
          </a:prstGeom>
          <a:solidFill>
            <a:srgbClr val="D0E0E3"/>
          </a:solidFill>
          <a:ln>
            <a:noFill/>
          </a:ln>
          <a:effectLst>
            <a:outerShdw blurRad="57151" rotWithShape="0" algn="bl" dir="5400000" dist="19051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Realizar modelagem de aplicações computacionais.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91cbfe2e4a_0_0"/>
          <p:cNvSpPr/>
          <p:nvPr/>
        </p:nvSpPr>
        <p:spPr>
          <a:xfrm>
            <a:off x="155100" y="4324245"/>
            <a:ext cx="11882100" cy="1395600"/>
          </a:xfrm>
          <a:prstGeom prst="rect">
            <a:avLst/>
          </a:prstGeom>
          <a:solidFill>
            <a:srgbClr val="D9EAD3"/>
          </a:solidFill>
          <a:ln>
            <a:noFill/>
          </a:ln>
          <a:effectLst>
            <a:outerShdw blurRad="57151" rotWithShape="0" algn="bl" dir="5400000" dist="19051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Aplicar as técnicas de desenvolvimento de software mais adequadas de acordo com a situação e com as necessidades do usuário.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12" scaled="0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1cbfe2e4a_0_51"/>
          <p:cNvSpPr txBox="1"/>
          <p:nvPr/>
        </p:nvSpPr>
        <p:spPr>
          <a:xfrm>
            <a:off x="287200" y="303812"/>
            <a:ext cx="6094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Nesta aula, vamos:</a:t>
            </a:r>
            <a:endParaRPr b="0" i="0" sz="40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91cbfe2e4a_0_51"/>
          <p:cNvSpPr txBox="1"/>
          <p:nvPr/>
        </p:nvSpPr>
        <p:spPr>
          <a:xfrm>
            <a:off x="2192600" y="4480300"/>
            <a:ext cx="525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um melhor aproveitamento de conteúdo você pode baixar o aplicativo da Alura para seu celular e acompanhar os materiais, clique nos respectivos links: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Descrição gerada automaticamente" id="83" name="Google Shape;83;g391cbfe2e4a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196" y="4356985"/>
            <a:ext cx="1391488" cy="139148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91cbfe2e4a_0_51"/>
          <p:cNvSpPr txBox="1"/>
          <p:nvPr/>
        </p:nvSpPr>
        <p:spPr>
          <a:xfrm>
            <a:off x="7330627" y="5856825"/>
            <a:ext cx="184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Play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91cbfe2e4a_0_51"/>
          <p:cNvSpPr txBox="1"/>
          <p:nvPr/>
        </p:nvSpPr>
        <p:spPr>
          <a:xfrm>
            <a:off x="9534019" y="5856825"/>
            <a:ext cx="180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App Store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g391cbfe2e4a_0_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52675" y="4039400"/>
            <a:ext cx="1848302" cy="18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91cbfe2e4a_0_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11975" y="4028400"/>
            <a:ext cx="1848300" cy="18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91cbfe2e4a_0_51"/>
          <p:cNvSpPr txBox="1"/>
          <p:nvPr/>
        </p:nvSpPr>
        <p:spPr>
          <a:xfrm>
            <a:off x="3622379" y="2181548"/>
            <a:ext cx="773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 o que é um banco de dados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g391cbfe2e4a_0_51"/>
          <p:cNvPicPr preferRelativeResize="0"/>
          <p:nvPr/>
        </p:nvPicPr>
        <p:blipFill rotWithShape="1">
          <a:blip r:embed="rId8">
            <a:alphaModFix/>
          </a:blip>
          <a:srcRect b="0" l="10682" r="0" t="0"/>
          <a:stretch/>
        </p:blipFill>
        <p:spPr>
          <a:xfrm>
            <a:off x="1918525" y="1472675"/>
            <a:ext cx="1703850" cy="19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12" scaled="0"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91cbfe2e4a_0_104"/>
          <p:cNvPicPr preferRelativeResize="0"/>
          <p:nvPr/>
        </p:nvPicPr>
        <p:blipFill rotWithShape="1">
          <a:blip r:embed="rId3">
            <a:alphaModFix amt="25000"/>
          </a:blip>
          <a:srcRect b="8289" l="2630" r="2411" t="6071"/>
          <a:stretch/>
        </p:blipFill>
        <p:spPr>
          <a:xfrm>
            <a:off x="3196389" y="252677"/>
            <a:ext cx="5886550" cy="53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91cbfe2e4a_0_104"/>
          <p:cNvSpPr txBox="1"/>
          <p:nvPr/>
        </p:nvSpPr>
        <p:spPr>
          <a:xfrm>
            <a:off x="410862" y="1435601"/>
            <a:ext cx="11370300" cy="4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material foi elaborado a partir da análise do plano de curso e reúne os conhecimentos essenciais para o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Técnico em Desenvolvimento de Sistemas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As aulas foram organizadas com foco na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clareza conceitual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na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construção gradual dos conteúdos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na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utilização de metodologias ativas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favorecem a compreensão, a participação e o desenvolvimento de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habilidades e competências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forma significativa.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acordo com a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curricular do Curso Técnico em Desenvolvimento de Sistemas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traz em sua essência componentes estruturados para a realização de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aulas práticas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cada unidade curricular deve contemplar, além da abordagem teórica, uma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proposta de atividade prática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ser desenvolvida pelo professor. Essa orientação assegura a coerência entre o planejamento didático e o que está estabelecido na matriz, promovendo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experiências formativas alinhadas ao perfil profissional previsto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professor tem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autonomia 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adaptar o conteúdo conforme o contexto da turma, ajustando exemplos, aprofundamentos e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estratégias didáticas para otimizar a aprendizagem e a conexão com a prática profissional.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houver </a:t>
            </a:r>
            <a:r>
              <a:rPr b="1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conexão ou indisponibilidade de internet</a:t>
            </a: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durante a aula, os materiais abaixo podem ser utilizados como apoio para elaborar recursos complementares, garantindo a continuidade da abordagem teórica prevista.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91cbfe2e4a_0_104"/>
          <p:cNvSpPr txBox="1"/>
          <p:nvPr/>
        </p:nvSpPr>
        <p:spPr>
          <a:xfrm>
            <a:off x="3079069" y="322651"/>
            <a:ext cx="6094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48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ATENÇÃO PROFESSOR!</a:t>
            </a:r>
            <a:endParaRPr b="0" i="0" sz="48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/>
        </p:nvSpPr>
        <p:spPr>
          <a:xfrm>
            <a:off x="2320287" y="1088012"/>
            <a:ext cx="60941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45967"/>
                </a:solidFill>
                <a:latin typeface="Arial"/>
                <a:ea typeface="Arial"/>
                <a:cs typeface="Arial"/>
                <a:sym typeface="Arial"/>
              </a:rPr>
              <a:t>Para pensarmos juntos...</a:t>
            </a:r>
            <a:endParaRPr b="0" i="0" sz="3600" u="none" cap="none" strike="noStrike">
              <a:solidFill>
                <a:srgbClr val="04596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228" y="757990"/>
            <a:ext cx="1811848" cy="113836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 txBox="1"/>
          <p:nvPr/>
        </p:nvSpPr>
        <p:spPr>
          <a:xfrm>
            <a:off x="1426128" y="2315361"/>
            <a:ext cx="9286500" cy="3417000"/>
          </a:xfrm>
          <a:prstGeom prst="rect">
            <a:avLst/>
          </a:prstGeom>
          <a:noFill/>
          <a:ln cap="flat" cmpd="sng" w="38100">
            <a:solidFill>
              <a:srgbClr val="45818E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360000" marR="381342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José é dono de uma fazenda que produz café. Os grãos são vendidos tanto no Brasil quanto nos Estados Unidos (EUA). Como o café é vendido em dois países que têm moedas distintas – real e dólar –, deve-se haver um controle cauteloso em relação à precificação do café. Desse modo, a venda do café está dividida em dois departamentos: venda interna (Brasil) e venda externa (EUA). Quando o valor do quilo do café sobe no Brasil, ele deve ser aumentado somente no departamento de venda interna e vice-versa.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6876" y="934311"/>
            <a:ext cx="953725" cy="95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4050" y="4859375"/>
            <a:ext cx="1645925" cy="164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225" y="2083950"/>
            <a:ext cx="1262974" cy="126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2320287" y="1088012"/>
            <a:ext cx="60941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45967"/>
                </a:solidFill>
                <a:latin typeface="Arial"/>
                <a:ea typeface="Arial"/>
                <a:cs typeface="Arial"/>
                <a:sym typeface="Arial"/>
              </a:rPr>
              <a:t>Para pensarmos juntos...</a:t>
            </a:r>
            <a:endParaRPr b="0" i="0" sz="3600" u="none" cap="none" strike="noStrike">
              <a:solidFill>
                <a:srgbClr val="04596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228" y="757990"/>
            <a:ext cx="1811848" cy="113836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4839772" y="2144675"/>
            <a:ext cx="59934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Recentemente, houve o problema de que o preço do café subiu apenas no Brasil e a pessoa responsável pela alteração do preço subiu nos dois departamentos. Esse erro só foi notado quando os compradores dos EUA começaram a reclamar que o preço do café estava muito alto e que não iriam mais comprar do José.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350" y="2253800"/>
            <a:ext cx="3836351" cy="255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933825" y="5088575"/>
            <a:ext cx="3785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fonte:https://i0.hippopx.com/photos/825/498/520/cafe-de-colombia-cafe-in-sac-bag-cafe-colombian-coffee-preview.jpg</a:t>
            </a:r>
            <a:endParaRPr b="0" i="0" sz="8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00" scaled="0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/>
        </p:nvSpPr>
        <p:spPr>
          <a:xfrm>
            <a:off x="2320287" y="1088012"/>
            <a:ext cx="609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Para responder no caderno</a:t>
            </a:r>
            <a:endParaRPr b="0" i="0" sz="36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228" y="757990"/>
            <a:ext cx="1811848" cy="113836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1106905" y="2605332"/>
            <a:ext cx="92865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AutoNum type="arabicPeriod"/>
            </a:pPr>
            <a:r>
              <a:rPr b="0" i="0" lang="pt-BR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é o problema dessa situação? 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AutoNum type="arabicPeriod"/>
            </a:pPr>
            <a:r>
              <a:rPr b="0" i="0" lang="pt-BR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José poderia ter feito para evitar essa situação? 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AutoNum type="arabicPeriod"/>
            </a:pPr>
            <a:r>
              <a:rPr b="0" i="0" lang="pt-BR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tecnologia você recomendaria para José começar a utilizar para evitar futuros problemas como esse?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6096" y="943028"/>
            <a:ext cx="935398" cy="93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00" scaled="0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/>
        </p:nvSpPr>
        <p:spPr>
          <a:xfrm>
            <a:off x="2320287" y="1088012"/>
            <a:ext cx="60941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Possível solução</a:t>
            </a:r>
            <a:endParaRPr b="0" i="0" sz="36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228" y="757990"/>
            <a:ext cx="1811848" cy="113836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8"/>
          <p:cNvSpPr txBox="1"/>
          <p:nvPr/>
        </p:nvSpPr>
        <p:spPr>
          <a:xfrm>
            <a:off x="1106905" y="2154657"/>
            <a:ext cx="9286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R: Utilizar um banco de dados para armazenamento, gerenciamento e controle dos dados.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7788" y="3378249"/>
            <a:ext cx="4836412" cy="268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00" scaled="0"/>
        </a:gra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/>
        </p:nvSpPr>
        <p:spPr>
          <a:xfrm>
            <a:off x="2344077" y="1148625"/>
            <a:ext cx="928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Exemplos de bancos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795" y="1035323"/>
            <a:ext cx="1307205" cy="82700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 txBox="1"/>
          <p:nvPr/>
        </p:nvSpPr>
        <p:spPr>
          <a:xfrm>
            <a:off x="3170305" y="5111789"/>
            <a:ext cx="685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Fonte: https://pxhere.com/pt/photo/1443941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9546" y="2858119"/>
            <a:ext cx="977263" cy="109043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 txBox="1"/>
          <p:nvPr/>
        </p:nvSpPr>
        <p:spPr>
          <a:xfrm>
            <a:off x="1285250" y="5600950"/>
            <a:ext cx="98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Link: </a:t>
            </a:r>
            <a:r>
              <a:rPr lang="pt-BR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https://drive.google.com/file/d/1s97AhPC3VcI6cryG3qILEKlOLBAruhNZ/view?usp=drive_link</a:t>
            </a: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9138850" y="4006825"/>
            <a:ext cx="2700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OBS: link do vídeo deve ser atualizado caso a apresentação mude de pasta junto com os vídeos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Interface gráfica do usuário&#10;&#10;Descrição gerada automaticamente" id="142" name="Google Shape;14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68622" y="1862330"/>
            <a:ext cx="5126418" cy="3191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12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dc25e7c43d_2_0"/>
          <p:cNvSpPr txBox="1"/>
          <p:nvPr/>
        </p:nvSpPr>
        <p:spPr>
          <a:xfrm>
            <a:off x="2344077" y="1148625"/>
            <a:ext cx="928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O que é um banco de dados?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g1dc25e7c43d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795" y="1035323"/>
            <a:ext cx="1307205" cy="82700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1dc25e7c43d_2_0"/>
          <p:cNvSpPr txBox="1"/>
          <p:nvPr/>
        </p:nvSpPr>
        <p:spPr>
          <a:xfrm>
            <a:off x="3926000" y="2012025"/>
            <a:ext cx="6888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 banco de dados é um sistema organizado de armazenamento e gerenciamento de informações, geralmente usado para manter registros de grandes quantidades de dados, como informações de clientes, transações financeiras, entre outros. É possível acessar e manipular esses dados de forma eficiente, usando linguagens de consulta e programas de gerenciamento de banco de dados.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g1dc25e7c43d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8450" y="2243150"/>
            <a:ext cx="192405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1dc25e7c43d_2_0"/>
          <p:cNvSpPr txBox="1"/>
          <p:nvPr/>
        </p:nvSpPr>
        <p:spPr>
          <a:xfrm>
            <a:off x="1425825" y="4809625"/>
            <a:ext cx="196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fonte:https://publicdomainvectors.org/pt/vetorial-gratis/Desenho-de-servidor-de-banco-de-dados-vetorial/13558.html</a:t>
            </a:r>
            <a:endParaRPr b="0" i="0" sz="8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12" scaled="0"/>
        </a:gra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dc25e7c43d_2_21"/>
          <p:cNvSpPr txBox="1"/>
          <p:nvPr/>
        </p:nvSpPr>
        <p:spPr>
          <a:xfrm>
            <a:off x="2344077" y="1148625"/>
            <a:ext cx="928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Importância do banco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1dc25e7c43d_2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795" y="1035323"/>
            <a:ext cx="1307205" cy="82700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1dc25e7c43d_2_21"/>
          <p:cNvSpPr txBox="1"/>
          <p:nvPr/>
        </p:nvSpPr>
        <p:spPr>
          <a:xfrm>
            <a:off x="3468500" y="2012025"/>
            <a:ext cx="7562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banco de dados é importante porque permite a centralização, organização e armazenamento de grandes quantidades de informações de maneira eficiente e segura. Além disso, o banco de dados facilita o acesso e a recuperação de informações, ajudando as empresas a tomar decisões informadas e a melhorar sua eficiência operacional. Também permite a colaboração e compartilhamento de informações com várias pessoas ou departamentos, o que é crucial em muitas empresas e organizações.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g1dc25e7c43d_2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7100" y="2243138"/>
            <a:ext cx="192405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1dc25e7c43d_2_21"/>
          <p:cNvSpPr txBox="1"/>
          <p:nvPr/>
        </p:nvSpPr>
        <p:spPr>
          <a:xfrm>
            <a:off x="1106900" y="4809625"/>
            <a:ext cx="196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fonte:https://publicdomainvectors.org/pt/vetorial-gratis/Desenho-de-servidor-de-banco-de-dados-vetorial/13558.html</a:t>
            </a:r>
            <a:endParaRPr b="0" i="0" sz="8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00" scaled="0"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/>
        </p:nvSpPr>
        <p:spPr>
          <a:xfrm>
            <a:off x="2387073" y="911650"/>
            <a:ext cx="6908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A partir do vídeo, responda no caderno:</a:t>
            </a:r>
            <a:endParaRPr b="0" i="0" sz="36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228" y="757990"/>
            <a:ext cx="1811848" cy="113836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/>
          <p:nvPr/>
        </p:nvSpPr>
        <p:spPr>
          <a:xfrm>
            <a:off x="1121325" y="2315350"/>
            <a:ext cx="99948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vocês acham que são dados?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que precisamos armazenar dados?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acham que é um banco de dados?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Cite exemplos de onde posso encontrar a utilização de banco de dados.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Algum de vocês já utilizou a abordagem de banco de dados para armazenar dados?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0259" y="943028"/>
            <a:ext cx="935398" cy="93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00" scaled="0"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/>
        </p:nvSpPr>
        <p:spPr>
          <a:xfrm>
            <a:off x="2320287" y="1088012"/>
            <a:ext cx="609414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Resposta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228" y="757990"/>
            <a:ext cx="1811848" cy="113836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1"/>
          <p:cNvSpPr txBox="1"/>
          <p:nvPr/>
        </p:nvSpPr>
        <p:spPr>
          <a:xfrm>
            <a:off x="1311201" y="2287200"/>
            <a:ext cx="60942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Dependendo do tamanho do faturamento da empresa, é bem difícil administrá-la sem um controle rígido em relação a compra e venda, controle de estoque, contas a receber e a pagar, etc.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1000" y="2084163"/>
            <a:ext cx="3268976" cy="326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12" scaled="0"/>
        </a:gra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1cbfe2e4a_0_349"/>
          <p:cNvSpPr txBox="1"/>
          <p:nvPr/>
        </p:nvSpPr>
        <p:spPr>
          <a:xfrm>
            <a:off x="246583" y="196143"/>
            <a:ext cx="8125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Vamos praticar?</a:t>
            </a:r>
            <a:endParaRPr b="0" i="0" sz="48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91cbfe2e4a_0_349"/>
          <p:cNvSpPr txBox="1"/>
          <p:nvPr/>
        </p:nvSpPr>
        <p:spPr>
          <a:xfrm>
            <a:off x="305825" y="1013400"/>
            <a:ext cx="113769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Prepare-se, porque nessa atividade, você vai sair do modo aprender e entrar direto no modo praticar.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atividade prática vai colocar você diante de um desafio real, que faz relação com o conteúdo aprendido até aqui.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g391cbfe2e4a_0_349" title="images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7200" y="5239433"/>
            <a:ext cx="3505233" cy="1211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12" scaled="0"/>
        </a:gra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1cbfe2e4a_0_300"/>
          <p:cNvSpPr txBox="1"/>
          <p:nvPr/>
        </p:nvSpPr>
        <p:spPr>
          <a:xfrm>
            <a:off x="435667" y="427260"/>
            <a:ext cx="812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0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O que vimos na aula de hoje</a:t>
            </a:r>
            <a:endParaRPr b="0" i="0" sz="40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91cbfe2e4a_0_300"/>
          <p:cNvSpPr txBox="1"/>
          <p:nvPr/>
        </p:nvSpPr>
        <p:spPr>
          <a:xfrm>
            <a:off x="3817855" y="2424524"/>
            <a:ext cx="71283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a importância de se utilizar banco de dados?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g391cbfe2e4a_0_3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351" y="2740817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91cbfe2e4a_0_300"/>
          <p:cNvSpPr txBox="1"/>
          <p:nvPr/>
        </p:nvSpPr>
        <p:spPr>
          <a:xfrm rot="-5400000">
            <a:off x="-460683" y="4051083"/>
            <a:ext cx="2525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https://encrypted-tbn0.gstatic.com/images?q=tbn:ANd9GcQMClLQE1UKtajpcU2wmw_TWqQwFDl7IfSbDQ&amp;usqp=CAU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12" scaled="0"/>
        </a:gra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1cbfe2e4a_0_153"/>
          <p:cNvSpPr txBox="1"/>
          <p:nvPr/>
        </p:nvSpPr>
        <p:spPr>
          <a:xfrm>
            <a:off x="3223425" y="139997"/>
            <a:ext cx="7669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pt-BR" sz="43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Pronto para desbloquear sua carreira de TI?</a:t>
            </a:r>
            <a:endParaRPr b="1" i="0" sz="76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91cbfe2e4a_0_153"/>
          <p:cNvSpPr txBox="1"/>
          <p:nvPr/>
        </p:nvSpPr>
        <p:spPr>
          <a:xfrm>
            <a:off x="3223425" y="1617575"/>
            <a:ext cx="8682000" cy="3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 perdido estudando mas não sabe por onde começar? Se a resposta é sim, você está no lugar certo! Descubra as estratégias e ferramentas essenciais para te ajudar a desbloquear seu potencial em TI e buscar sua primeira vaga de emprego no setor!</a:t>
            </a:r>
            <a:endParaRPr b="1" i="0" sz="3300" u="none" cap="none" strike="noStrike">
              <a:solidFill>
                <a:srgbClr val="2125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e-book é um guia completo para quem busca começar pelos melhores caminhos para se tornar um excelente profissional de TI, ensinando a identificar perfis profissionais, aplicar técnicas de estudo eficazes, transformar teoria em prática, e aumentar a visibilidade de seu trabalho no mercado de trabalho. Ideal para novatos e profissionais em transição.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o melhor, ele pode ser seu, inteiramente </a:t>
            </a:r>
            <a:r>
              <a:rPr b="1" i="0" lang="pt-BR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grátis</a:t>
            </a:r>
            <a:r>
              <a:rPr b="0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r>
              <a:rPr b="0" i="0" lang="pt-BR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91cbfe2e4a_0_153"/>
          <p:cNvPicPr preferRelativeResize="0"/>
          <p:nvPr/>
        </p:nvPicPr>
        <p:blipFill rotWithShape="1">
          <a:blip r:embed="rId3">
            <a:alphaModFix/>
          </a:blip>
          <a:srcRect b="34476" l="14624" r="14618" t="15940"/>
          <a:stretch/>
        </p:blipFill>
        <p:spPr>
          <a:xfrm>
            <a:off x="421067" y="529467"/>
            <a:ext cx="2583266" cy="36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91cbfe2e4a_0_1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61433" y="204900"/>
            <a:ext cx="3942067" cy="4867933"/>
          </a:xfrm>
          <a:prstGeom prst="rect">
            <a:avLst/>
          </a:prstGeom>
          <a:noFill/>
          <a:ln>
            <a:noFill/>
          </a:ln>
          <a:effectLst>
            <a:outerShdw blurRad="1066800" rotWithShape="0" algn="bl" dir="5400000" dist="520700">
              <a:srgbClr val="000000">
                <a:alpha val="46666"/>
              </a:srgbClr>
            </a:outerShdw>
          </a:effectLst>
        </p:spPr>
      </p:pic>
      <p:sp>
        <p:nvSpPr>
          <p:cNvPr id="200" name="Google Shape;200;g391cbfe2e4a_0_153"/>
          <p:cNvSpPr txBox="1"/>
          <p:nvPr/>
        </p:nvSpPr>
        <p:spPr>
          <a:xfrm>
            <a:off x="0" y="5072825"/>
            <a:ext cx="10488900" cy="661800"/>
          </a:xfrm>
          <a:prstGeom prst="rect">
            <a:avLst/>
          </a:prstGeom>
          <a:solidFill>
            <a:srgbClr val="EEFF41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2667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pt-BR" sz="27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Basta clicar </a:t>
            </a:r>
            <a:r>
              <a:rPr b="0" i="0" lang="pt-BR" sz="2700" u="sng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AQUI</a:t>
            </a:r>
            <a:r>
              <a:rPr b="0" i="0" lang="pt-BR" sz="27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e realizar o seu cadastro com o seu @escola!</a:t>
            </a:r>
            <a:endParaRPr b="0" i="0" sz="27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91cbfe2e4a_0_1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87718" y="4918933"/>
            <a:ext cx="1238175" cy="127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12" scaled="0"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1cbfe2e4a_0_253"/>
          <p:cNvSpPr txBox="1"/>
          <p:nvPr/>
        </p:nvSpPr>
        <p:spPr>
          <a:xfrm>
            <a:off x="346633" y="408293"/>
            <a:ext cx="812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000" u="none" cap="none" strike="noStrike">
                <a:solidFill>
                  <a:srgbClr val="045967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0" i="0" sz="4000" u="none" cap="none" strike="noStrike">
              <a:solidFill>
                <a:srgbClr val="0459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91cbfe2e4a_0_253"/>
          <p:cNvSpPr txBox="1"/>
          <p:nvPr/>
        </p:nvSpPr>
        <p:spPr>
          <a:xfrm>
            <a:off x="465233" y="958667"/>
            <a:ext cx="10980300" cy="3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BEAULIEU, Alan. Aprendendo SQL: Do Iniciante ao Avançado. São Paulo: O'Reilly, 2009.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BEAULIEU, Alan. SQL - Guia Prático Para Manipulação de Dados. São Paulo: O'Reilly, 2008.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DATE, C. J. Introdução a Sistemas de Bancos de Dados. 8ª ed. Rio de Janeiro: Elsevier, 2004.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ELMASRI, Ramez; NAVATHE, Shamkant B. Fundamentos de Sistemas de Banco de Dados. 6ª ed. São Paulo: Pearson, 2011.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HEUSER, Carlos Alberto. Banco de Dados: Conceitos, Modelagem e Projeto. 2ª ed. Porto Alegre: Bookman, 2009.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KIRK, Andy. Visualização de Dados para Qualquer Pessoa. Rio de Janeiro: Alta Books, 2016.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KNAFLIC, Cole Nussbaumer. Storytelling com Dados: Um Guia Sobre Visualização de Dados para Profissionais de Negócios. São Paulo: Alta Books, 2017.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MOREIRA, Antonio. Modelagem de Dados: Aprendizado Rápido. São Paulo: Novatec, 2014.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PROVOST, Foster; FAWCETT, Tom. Data Science Para Negócios: O Guia do Líder para Tomar Decisões com Dados. Rio de Janeiro: Alta Books, 2014.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SAMPAIO, Cleuton. Banco de Dados SQL: Aprenda a Construir um Banco de Dados do Zero. São Paulo: Novatec, 2018.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91cbfe2e4a_0_253"/>
          <p:cNvSpPr txBox="1"/>
          <p:nvPr/>
        </p:nvSpPr>
        <p:spPr>
          <a:xfrm>
            <a:off x="481251" y="4124331"/>
            <a:ext cx="10980300" cy="18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Figuras e Imagens: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https://www.flaticon.com/br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https://www.istockphoto.com/br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https://raw.githubusercontent.com/zbtang/React-Native-ViewPager/HEAD/imgs/dotIndicator.gif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https://storyset.com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26C96"/>
            </a:gs>
            <a:gs pos="74000">
              <a:srgbClr val="017D71"/>
            </a:gs>
            <a:gs pos="83000">
              <a:srgbClr val="00865E"/>
            </a:gs>
            <a:gs pos="100000">
              <a:srgbClr val="008C52"/>
            </a:gs>
          </a:gsLst>
          <a:lin ang="5400012" scaled="0"/>
        </a:gra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2022-10-25T17:54:27Z</dcterms:created>
  <dc:creator>MARILEY DUARTE ROCHA DE OLIVEIRA</dc:creator>
</cp:coreProperties>
</file>